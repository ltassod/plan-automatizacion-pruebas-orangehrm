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FFFFFF"/>
                </a:solidFill>
                <a:lang val="es-CL"/>
              </a:rPr>
              <a:t>EVALUACION FINAL TRANSVERSAL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DC3C7"/>
                </a:solidFill>
                <a:lang val="es-CL"/>
              </a:defRPr>
            </a:pPr>
            <a:r>
              <a:rPr>
                <a:solidFill>
                  <a:srgbClr val="A5B4FC"/>
                </a:solidFill>
                <a:lang val="es-CL"/>
              </a:rPr>
              <a:t>Automatizacion de Pruebas - OrangeHRM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DC3C7"/>
                </a:solidFill>
                <a:lang val="es-CL"/>
              </a:defRPr>
            </a:pPr>
            <a:r>
              <a:rPr>
                <a:solidFill>
                  <a:srgbClr val="FFFFFF"/>
                </a:solidFill>
                <a:lang val="es-CL"/>
              </a:rPr>
              <a:t>Behave 1.2.6  +  Selenium 4.28  +  Python 3.14</a:t>
            </a:r>
            <a:r>
              <a:rPr>
                <a:lang val="es-CL"/>
              </a:rPr>
              <a:t/>
            </a:r>
            <a:br/>
            <a:r>
              <a:rPr>
                <a:lang val="es-CL"/>
              </a:rPr>
              <a:t/>
            </a:r>
            <a:br/>
            <a:r>
              <a:rPr>
                <a:solidFill>
                  <a:srgbClr val="FFFFFF"/>
                </a:solidFill>
                <a:lang val="es-CL"/>
              </a:rPr>
              <a:t>Estudiante: Luis Tasso  |  Seccion: 802V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FFFFFF"/>
                </a:solidFill>
                <a:lang val="es-CL"/>
              </a:rPr>
              <a:t>Profesor: Manuel Soto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A5B4FC"/>
                </a:solidFill>
                <a:lang val="es-CL"/>
              </a:rPr>
              <a:t>API0101 - Automatizacion de Pruebas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1. Plan de Pruebas y Cronograma por Sprint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2. Trazabilidad Requisito -&gt; Escenario -&gt; Resultado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3. Resultados de Ejecucion - 29 escenarios, evidencias, fallo intencional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4. Metricas de Calidad (PPT 3.3.1) y Rendimiento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5. Oportunidades de Mejora (A+B+C)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6. Propuestas: Producto (OrangeHRM) vs. Proceso (Framework)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7. Stack Tecnologico: Behave + Python + Selenium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8. Conclusiones y Proyecciones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Plan de Pruebas y Cronograma por Sprint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2415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Sprint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Semanas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Features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Escenarios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Entregable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Sprint 1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Fundamentos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1-4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login.feature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sesion.feature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4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Steps genericos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environment.py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Screenshots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Sprint 2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PIM CRUD + DD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5-8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empleados.feature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busqueda.feature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edicion.feature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eliminacion.feature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ExcelUtils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Data-Driven Steps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6 Excel testData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Sprint 3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Perfil + Licencias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9-12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perfil.feature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licencias.feature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navigation.feature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10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Reportes HTML/JSON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Metricas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Informe Final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9319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Caso: OrangeHRM (opensource-demo.orangehrmlive.com)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Modulos evaluados: Login, Dashboard, PIM, Leave, Admin, My Info, Sesion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Tecnicas: BDD (Gherkin), Data-Driven Testing con Excel, Captura automatica de evidencia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Tipos de pruebas: Funcionales, Regresion, Humo, Internacionalizacion, Validacion</a:t>
            </a:r>
            <a:r>
              <a:rPr>
                <a:lang val="es-CL"/>
              </a:rPr>
              <a:t/>
            </a:r>
            <a:br/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Total: 29 escenarios | 10 features | 6 archivos Excel | 177 screenshots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Trazabilidad: Requisito -&gt; Funcionalidad -&gt; Escenario -&gt; Resultado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9144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Requisito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Funcionalidad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Escenario Gherkin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Resultado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RF-01: Login valido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Autenticacion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TC_001_LoginExitoso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RF-02: Login invalido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Error auth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TC_002_LoginFallido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RF-03: Crear empleado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PIM Registro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TC_005_Agregar (3 filas DD)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RF-04: Buscar empleado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PIM Busqueda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TC_006_Buscar (3 filas DD)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RF-05: Editar empleado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PIM Edicion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TC_007_Editar (3 filas DD)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RF-06: Eliminar empleado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PIM Eliminacion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TC_008_Eliminar (3 filas DD)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RF-07: Navegacion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Modulos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TC_007-009_Nav (Leave/Admin/Info)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RF-08: Cerrar sesion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Logout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TC_003_Logout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RF-09: Validacion campos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Formularios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TC_010_ValidarCampos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RF-10: Assert titulo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Verificacion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TC_004_AssertTitulo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FAIL (diseno)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RF-11: Solicitar licencia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Leave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TC_014_LeaveApply (3 filas DD)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Resultados de Ejecucion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980B9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29 escenarios ejecutados | 96.55% aprobacion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Total escenarios: 29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Aprobados: 28 (96.55%)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Fallidos: 1 (3.45%) - TC_004 intencional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Data-Driven: 18/18 PASS (62%)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10 features ejecutadas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Tiempo total: ~7 minutos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177 screenshots en evidencias/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6 archivos Excel testData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71600"/>
            <a:ext cx="5029200" cy="22860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0" y="155448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ng val="es-CL"/>
              </a:defRPr>
            </a:pPr>
            <a:r>
              <a:rPr dirty="0" err="1">
                <a:lang val="es-CL"/>
              </a:rPr>
              <a:t>Fallo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Intencional</a:t>
            </a:r>
            <a:r>
              <a:rPr dirty="0">
                <a:lang val="es-CL"/>
              </a:rPr>
              <a:t> TC_004: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ng val="es-CL"/>
              </a:defRPr>
            </a:pPr>
            <a:r>
              <a:rPr dirty="0" err="1">
                <a:lang val="es-CL"/>
              </a:rPr>
              <a:t>Escenario</a:t>
            </a:r>
            <a:r>
              <a:rPr dirty="0">
                <a:lang val="es-CL"/>
              </a:rPr>
              <a:t>: Assert </a:t>
            </a:r>
            <a:r>
              <a:rPr dirty="0" err="1">
                <a:lang val="es-CL"/>
              </a:rPr>
              <a:t>falla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verificacion</a:t>
            </a:r>
            <a:r>
              <a:rPr dirty="0">
                <a:lang val="es-CL"/>
              </a:rPr>
              <a:t> de </a:t>
            </a:r>
            <a:r>
              <a:rPr dirty="0" err="1">
                <a:lang val="es-CL"/>
              </a:rPr>
              <a:t>titulo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Esperado</a:t>
            </a:r>
            <a:r>
              <a:rPr dirty="0">
                <a:lang val="es-CL"/>
              </a:rPr>
              <a:t>: '</a:t>
            </a:r>
            <a:r>
              <a:rPr dirty="0" err="1">
                <a:lang val="es-CL"/>
              </a:rPr>
              <a:t>OrangeHRM</a:t>
            </a:r>
            <a:r>
              <a:rPr dirty="0">
                <a:lang val="es-CL"/>
              </a:rPr>
              <a:t> OS 5.7'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>
                <a:lang val="es-CL"/>
              </a:rPr>
              <a:t>Real: '</a:t>
            </a:r>
            <a:r>
              <a:rPr dirty="0" err="1">
                <a:lang val="es-CL"/>
              </a:rPr>
              <a:t>OrangeHRM</a:t>
            </a:r>
            <a:r>
              <a:rPr dirty="0">
                <a:lang val="es-CL"/>
              </a:rPr>
              <a:t>'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Proposito</a:t>
            </a:r>
            <a:r>
              <a:rPr dirty="0">
                <a:lang val="es-CL"/>
              </a:rPr>
              <a:t>: </a:t>
            </a:r>
            <a:r>
              <a:rPr dirty="0" err="1">
                <a:lang val="es-CL"/>
              </a:rPr>
              <a:t>Demostrar</a:t>
            </a:r>
            <a:r>
              <a:rPr dirty="0">
                <a:lang val="es-CL"/>
              </a:rPr>
              <a:t> hook @</a:t>
            </a:r>
            <a:r>
              <a:rPr dirty="0" err="1">
                <a:lang val="es-CL"/>
              </a:rPr>
              <a:t>after_scenario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captura</a:t>
            </a:r>
            <a:r>
              <a:rPr dirty="0">
                <a:lang val="es-CL"/>
              </a:rPr>
              <a:t> screenshot </a:t>
            </a:r>
            <a:r>
              <a:rPr dirty="0" err="1">
                <a:lang val="es-CL"/>
              </a:rPr>
              <a:t>automatico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fallos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Evidencia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: </a:t>
            </a:r>
            <a:r>
              <a:rPr dirty="0" err="1">
                <a:lang val="es-CL"/>
              </a:rPr>
              <a:t>evidencias</a:t>
            </a:r>
            <a:r>
              <a:rPr dirty="0">
                <a:lang val="es-CL"/>
              </a:rPr>
              <a:t>/screenshot_*.png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931920"/>
            <a:ext cx="5029200" cy="2286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411480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ng val="es-CL"/>
              </a:defRPr>
            </a:pPr>
            <a:r>
              <a:rPr dirty="0" err="1">
                <a:lang val="es-CL"/>
              </a:rPr>
              <a:t>Cobertura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por</a:t>
            </a:r>
            <a:r>
              <a:rPr dirty="0">
                <a:lang val="es-CL"/>
              </a:rPr>
              <a:t> Modulo: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663440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ng val="es-CL"/>
              </a:defRPr>
            </a:pPr>
            <a:r>
              <a:rPr dirty="0">
                <a:lang val="es-CL"/>
              </a:rPr>
              <a:t>Login: 3/4 PASS  |  </a:t>
            </a:r>
            <a:r>
              <a:rPr dirty="0" err="1">
                <a:lang val="es-CL"/>
              </a:rPr>
              <a:t>Navegacion</a:t>
            </a:r>
            <a:r>
              <a:rPr dirty="0">
                <a:lang val="es-CL"/>
              </a:rPr>
              <a:t>: 3/3 PASS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Sesion</a:t>
            </a:r>
            <a:r>
              <a:rPr dirty="0">
                <a:lang val="es-CL"/>
              </a:rPr>
              <a:t>: 1/1 PASS  |  PIM CRUD: 12/12 PASS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Perfil</a:t>
            </a:r>
            <a:r>
              <a:rPr dirty="0">
                <a:lang val="es-CL"/>
              </a:rPr>
              <a:t>: 3/3 PASS  |  </a:t>
            </a:r>
            <a:r>
              <a:rPr dirty="0" err="1">
                <a:lang val="es-CL"/>
              </a:rPr>
              <a:t>Licencias</a:t>
            </a:r>
            <a:r>
              <a:rPr dirty="0">
                <a:lang val="es-CL"/>
              </a:rPr>
              <a:t>: 3/3 PASS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>
                <a:lang val="es-CL"/>
              </a:rPr>
              <a:t>Data-Driven: 18/18 PASS  |  62% </a:t>
            </a:r>
            <a:r>
              <a:rPr dirty="0" err="1">
                <a:lang val="es-CL"/>
              </a:rPr>
              <a:t>cobertura</a:t>
            </a:r>
            <a:r>
              <a:rPr dirty="0">
                <a:lang val="es-CL"/>
              </a:rPr>
              <a:t> DD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Metricas de Calidad y Rendimiento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Metrica (PPT 3.3.1)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Formula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Resultado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Fuente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% Automatizable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(Aut/Tot) x 100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100% (29/29)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reporte.html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Progreso Autom.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(Ejec/Planif) x 100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100% (29/29)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reporte.json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Productiv. Diseno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Esc / Horas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7.25 esc/h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Tiempo: 4 hrs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Productiv. Ejec.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Esc / T total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0.067 esc/s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reporte.json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Tasa de Fallos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(Fallos/Total) x 100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3.45% (1/29)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reporte.html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3716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Metrica Rendimiento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Formula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Resultado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Fuente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Tiempo prom./esc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Suma dur / Total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~15 seg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reporte.json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Feature mas lenta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Max(dur feature)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~40s (PIM)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reporte.json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Overhead setup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Setup/Total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~25%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environment.py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Cobertura DD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DD / Total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62% (18/29)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Features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Screenshots/esc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Total SS / Esc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6.1 (177/29)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evidencias/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377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Tasa de fallos: unico fallo = TC_004 intencional. Excluyendolo: 0%. Suite estable.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Overhead setup: cada escenario abre su propio Chrome. Con paralelizacion (-j 4) se reduce.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Cobertura DD 62%: escalable, permite agregar filas al Excel sin modificar codigo.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Oportunidades de Mejora (A: Observacion -&gt; B: Causa -&gt; C: Accion)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O1: Menu en chino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A) TC_007/008/009 fallaron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B) Server locale cambia a chino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C) MENU_TRANSLATIONS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+ fallback bilingue implementado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O2: Boton Save + Spinner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A) Save interceptado por spinner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B) Spinner OX tapa boton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C) _wait_spinner_done()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+ JS click implementado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O3: Titulo incorrecto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A) TC_004: titulo no coincide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B) driver.title es 'OrangeHRM'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C) Validar por URL en vez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de titulo implementado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93192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O4: Tiempo ejecucion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4805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A) Suite ~7 minutos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B) Escenarios secuenciales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  driver nuevo c/u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C) Propuesta: behave -j 4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  (~2 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93192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O5: Excel no versionables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4805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A) 6 .xlsx editables manual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B) Binarios, sin diff en git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C) Propuesta: regenerar con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  generar_excel.py pre-ejec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931920"/>
            <a:ext cx="36576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3 implementadas | 2 propuestas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Propuestas de Mejora (Dato -&gt; Causa -&gt; Accion -&gt; Impacto)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93268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Tipo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Propuesta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Dato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Accion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Impacto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Producto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MP-01: Mensajes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error diferenciados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TC_002: msj generico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'Invalid credentials'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Separar casos: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usuario vs 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UX + seguridad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informatica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Producto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MP-02: Selector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idioma persistente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INC-01/02: locale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cambia a chino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Cookie de idioma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persistente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UX internacional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Proceso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MP-03: Page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Object Model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Selectores en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2+ archivos steps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Refactor a clases: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LoginPage, PimPage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Mantenibilidad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centralizada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Proceso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MP-04: Ejecucion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paralela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Suite completa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~7 minutos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behave -j 4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(4 workers)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~2 min (-70%)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Proceso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MP-05: Logging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estructurado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print() comentados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sin trazas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Modulo logging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con timestamps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Diagnostico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rapido fallos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Processo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MP-06: CI/CD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GitHub Actions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Ejecucion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manual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Workflow .github/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en cada push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Regresion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automatica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4846320"/>
            <a:ext cx="11430000" cy="13716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ng val="es-CL"/>
              </a:defRPr>
            </a:pPr>
            <a:r>
              <a:rPr dirty="0" err="1">
                <a:lang val="es-CL"/>
              </a:rPr>
              <a:t>Criterio</a:t>
            </a:r>
            <a:r>
              <a:rPr dirty="0">
                <a:lang val="es-CL"/>
              </a:rPr>
              <a:t> 3 (</a:t>
            </a:r>
            <a:r>
              <a:rPr dirty="0" err="1">
                <a:lang val="es-CL"/>
              </a:rPr>
              <a:t>Producto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OrangeHRM</a:t>
            </a:r>
            <a:r>
              <a:rPr dirty="0">
                <a:lang val="es-CL"/>
              </a:rPr>
              <a:t>): MP-01, MP-02  |  </a:t>
            </a:r>
            <a:r>
              <a:rPr dirty="0" err="1">
                <a:lang val="es-CL"/>
              </a:rPr>
              <a:t>Criterio</a:t>
            </a:r>
            <a:r>
              <a:rPr dirty="0">
                <a:lang val="es-CL"/>
              </a:rPr>
              <a:t> 4 (</a:t>
            </a:r>
            <a:r>
              <a:rPr dirty="0" err="1">
                <a:lang val="es-CL"/>
              </a:rPr>
              <a:t>Proceso</a:t>
            </a:r>
            <a:r>
              <a:rPr dirty="0">
                <a:lang val="es-CL"/>
              </a:rPr>
              <a:t> Framework): MP-03, MP-04, MP-05, MP-06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Cada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propuesta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nace</a:t>
            </a:r>
            <a:r>
              <a:rPr dirty="0">
                <a:lang val="es-CL"/>
              </a:rPr>
              <a:t> de un </a:t>
            </a:r>
            <a:r>
              <a:rPr dirty="0" err="1">
                <a:lang val="es-CL"/>
              </a:rPr>
              <a:t>dato</a:t>
            </a:r>
            <a:r>
              <a:rPr dirty="0">
                <a:lang val="es-CL"/>
              </a:rPr>
              <a:t> real del </a:t>
            </a:r>
            <a:r>
              <a:rPr dirty="0" err="1">
                <a:lang val="es-CL"/>
              </a:rPr>
              <a:t>reporte</a:t>
            </a:r>
            <a:r>
              <a:rPr dirty="0">
                <a:lang val="es-CL"/>
              </a:rPr>
              <a:t>, </a:t>
            </a:r>
            <a:r>
              <a:rPr dirty="0" err="1">
                <a:lang val="es-CL"/>
              </a:rPr>
              <a:t>explica</a:t>
            </a:r>
            <a:r>
              <a:rPr dirty="0">
                <a:lang val="es-CL"/>
              </a:rPr>
              <a:t> la causa </a:t>
            </a:r>
            <a:r>
              <a:rPr dirty="0" err="1">
                <a:lang val="es-CL"/>
              </a:rPr>
              <a:t>tecnica</a:t>
            </a:r>
            <a:r>
              <a:rPr dirty="0">
                <a:lang val="es-CL"/>
              </a:rPr>
              <a:t>, propone un </a:t>
            </a:r>
            <a:r>
              <a:rPr dirty="0" err="1">
                <a:lang val="es-CL"/>
              </a:rPr>
              <a:t>cambio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concreto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 el </a:t>
            </a:r>
            <a:r>
              <a:rPr dirty="0" err="1">
                <a:lang val="es-CL"/>
              </a:rPr>
              <a:t>codigo</a:t>
            </a:r>
            <a:r>
              <a:rPr dirty="0">
                <a:lang val="es-CL"/>
              </a:rPr>
              <a:t>, y </a:t>
            </a:r>
            <a:r>
              <a:rPr dirty="0" err="1">
                <a:lang val="es-CL"/>
              </a:rPr>
              <a:t>cuantifica</a:t>
            </a:r>
            <a:r>
              <a:rPr dirty="0">
                <a:lang val="es-CL"/>
              </a:rPr>
              <a:t> el </a:t>
            </a:r>
            <a:r>
              <a:rPr dirty="0" err="1">
                <a:lang val="es-CL"/>
              </a:rPr>
              <a:t>impacto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 el </a:t>
            </a:r>
            <a:r>
              <a:rPr dirty="0" err="1">
                <a:lang val="es-CL"/>
              </a:rPr>
              <a:t>ciclo</a:t>
            </a:r>
            <a:r>
              <a:rPr dirty="0">
                <a:lang val="es-CL"/>
              </a:rPr>
              <a:t> de </a:t>
            </a:r>
            <a:r>
              <a:rPr dirty="0" err="1">
                <a:lang val="es-CL"/>
              </a:rPr>
              <a:t>vida</a:t>
            </a:r>
            <a:r>
              <a:rPr dirty="0">
                <a:lang val="es-CL"/>
              </a:rPr>
              <a:t> del software</a:t>
            </a:r>
            <a:r>
              <a:rPr dirty="0">
                <a:solidFill>
                  <a:srgbClr val="CBD5E1"/>
                </a:solidFill>
                <a:lang val="es-CL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Stack Tecnologico: Behave + Python + Selenium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Componente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Version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Proposito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Configuracion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Python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3.14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Lenguaje base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Interprete: python.exe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Behave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1.2.6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Framework BDD (Gherkin)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environment.py + features/ + steps/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Selenium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4.28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Autom. navegador Chrome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WebDriverWait, By, EC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openpyxl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3.1+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Lectura Excel DD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ExcelUtils.get_cell_data()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Chrome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149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Navegador bajo prueba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ChromeDriver compatible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PyCharm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2026.1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IDE desarrollo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Run Config: behave features/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Comandos principales: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python -m behave features/                 # Toda la suite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python -m behave features/login.feature    # Una feature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python -m behave --format json -o reporte.json   # Reporte JSON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set HEADLESS=0 &amp;&amp; python -m behave features/     # Modo visual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Gestion dependencias: pip install -r requirements.txt (equivalente a Maven)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Conclusiones y Proyecciones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29/29 escenarios ejecutados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96.55% aprobacion (fallo intencional TC_004)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Suite bilingue: ingles + chino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Data-Driven: 18 escenarios parametrizados (62%)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177 screenshots de evidencia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10 features, 6 archivos Excel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Metricas trazables al reporte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463040"/>
            <a:ext cx="5029200" cy="228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0" y="164592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Proyecciones: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GitHub Actions para CI/CD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Page Object Model completo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Allure Reports para tendencias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Ejecucion paralela behave -j 4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Expandir cobertura a mas modulos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4114800"/>
            <a:ext cx="5029200" cy="22860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4297680"/>
            <a:ext cx="4572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ng val="es-CL"/>
              </a:defRPr>
            </a:pPr>
            <a:r>
              <a:rPr dirty="0">
                <a:lang val="es-CL"/>
              </a:rPr>
              <a:t>5 </a:t>
            </a:r>
            <a:r>
              <a:rPr dirty="0" err="1">
                <a:lang val="es-CL"/>
              </a:rPr>
              <a:t>oportunidades</a:t>
            </a:r>
            <a:r>
              <a:rPr dirty="0">
                <a:lang val="es-CL"/>
              </a:rPr>
              <a:t> de </a:t>
            </a:r>
            <a:r>
              <a:rPr dirty="0" err="1">
                <a:lang val="es-CL"/>
              </a:rPr>
              <a:t>mejora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documentadas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>
                <a:lang val="es-CL"/>
              </a:rPr>
              <a:t>6 </a:t>
            </a:r>
            <a:r>
              <a:rPr dirty="0" err="1">
                <a:lang val="es-CL"/>
              </a:rPr>
              <a:t>propuestas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formales</a:t>
            </a:r>
            <a:r>
              <a:rPr dirty="0">
                <a:lang val="es-CL"/>
              </a:rPr>
              <a:t> (2 </a:t>
            </a:r>
            <a:r>
              <a:rPr dirty="0" err="1">
                <a:lang val="es-CL"/>
              </a:rPr>
              <a:t>producto</a:t>
            </a:r>
            <a:r>
              <a:rPr dirty="0">
                <a:lang val="es-CL"/>
              </a:rPr>
              <a:t> + 4 </a:t>
            </a:r>
            <a:r>
              <a:rPr dirty="0" err="1">
                <a:lang val="es-CL"/>
              </a:rPr>
              <a:t>proceso</a:t>
            </a:r>
            <a:r>
              <a:rPr dirty="0">
                <a:lang val="es-CL"/>
              </a:rPr>
              <a:t>)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>
                <a:lang val="es-CL"/>
              </a:rPr>
              <a:t>Stack: Behave 1.2.6 + Selenium 4.28 + Python 3.14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Lista</a:t>
            </a:r>
            <a:r>
              <a:rPr dirty="0">
                <a:lang val="es-CL"/>
              </a:rPr>
              <a:t> para </a:t>
            </a:r>
            <a:r>
              <a:rPr dirty="0" err="1">
                <a:lang val="es-CL"/>
              </a:rPr>
              <a:t>integracion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 pipeline CI/CD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FFFFFF"/>
                </a:solidFill>
                <a:lang val="es-CL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C3C7"/>
                </a:solidFill>
                <a:lang val="es-CL"/>
              </a:defRPr>
            </a:pPr>
            <a:r>
              <a:rPr>
                <a:solidFill>
                  <a:srgbClr val="FFFFFF"/>
                </a:solidFill>
                <a:lang val="es-CL"/>
              </a:rPr>
              <a:t>Luis Tasso  |  Seccion 802V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A5B4FC"/>
                </a:solidFill>
                <a:lang val="es-CL"/>
              </a:rPr>
              <a:t>API0101 - Automatizacion de Pruebas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FFFFFF"/>
                </a:solidFill>
                <a:lang val="es-CL"/>
              </a:rPr>
              <a:t>Prof. Manuel Soto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876</Words>
  <Application>Microsoft Office PowerPoint</Application>
  <PresentationFormat>Panorámica</PresentationFormat>
  <Paragraphs>275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2026-07-13T02:24:32Z</dcterms:modified>
  <cp:category/>
</cp:coreProperties>
</file>